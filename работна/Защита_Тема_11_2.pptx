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58" r:id="rId3"/>
    <p:sldId id="257" r:id="rId4"/>
    <p:sldId id="261" r:id="rId5"/>
    <p:sldId id="262" r:id="rId6"/>
    <p:sldId id="263" r:id="rId7"/>
    <p:sldId id="265" r:id="rId8"/>
    <p:sldId id="266" r:id="rId9"/>
    <p:sldId id="269" r:id="rId10"/>
    <p:sldId id="270" r:id="rId11"/>
    <p:sldId id="264" r:id="rId12"/>
    <p:sldId id="271" r:id="rId13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E84B20-3AC8-42A9-94EB-B9F893C83514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8A3CA9-5CED-4745-BCA3-5A1833F591B2}">
      <dgm:prSet phldrT="[Text]"/>
      <dgm:spPr/>
      <dgm:t>
        <a:bodyPr/>
        <a:lstStyle/>
        <a:p>
          <a:r>
            <a:rPr lang="bg-BG" dirty="0" smtClean="0"/>
            <a:t> </a:t>
          </a:r>
          <a:endParaRPr lang="en-US" dirty="0"/>
        </a:p>
      </dgm:t>
    </dgm:pt>
    <dgm:pt modelId="{D02F4B22-99D7-4A2F-BAD4-996709F96C0E}" type="parTrans" cxnId="{E356C566-6086-4365-96AA-FFBCE1E4E6D2}">
      <dgm:prSet/>
      <dgm:spPr/>
      <dgm:t>
        <a:bodyPr/>
        <a:lstStyle/>
        <a:p>
          <a:endParaRPr lang="en-US"/>
        </a:p>
      </dgm:t>
    </dgm:pt>
    <dgm:pt modelId="{D3695FF2-663C-46B4-B698-8C528D9F980B}" type="sibTrans" cxnId="{E356C566-6086-4365-96AA-FFBCE1E4E6D2}">
      <dgm:prSet/>
      <dgm:spPr/>
      <dgm:t>
        <a:bodyPr/>
        <a:lstStyle/>
        <a:p>
          <a:endParaRPr lang="en-US"/>
        </a:p>
      </dgm:t>
    </dgm:pt>
    <dgm:pt modelId="{41C454EF-55A2-4338-8CC2-E287D99E4001}">
      <dgm:prSet phldrT="[Text]" custT="1"/>
      <dgm:spPr/>
      <dgm:t>
        <a:bodyPr/>
        <a:lstStyle/>
        <a:p>
          <a:r>
            <a:rPr lang="bg-BG" sz="9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Сървърна валидацизация  </a:t>
          </a:r>
          <a:endParaRPr lang="en-US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CCBDC0-0696-4383-B8D0-15718AB2EBCA}" type="parTrans" cxnId="{12D644E1-5503-4435-8939-E72C51A17B47}">
      <dgm:prSet/>
      <dgm:spPr/>
      <dgm:t>
        <a:bodyPr/>
        <a:lstStyle/>
        <a:p>
          <a:endParaRPr lang="en-US"/>
        </a:p>
      </dgm:t>
    </dgm:pt>
    <dgm:pt modelId="{1A2F81F5-FA29-47A8-AAED-C2CA7ACB529F}" type="sibTrans" cxnId="{12D644E1-5503-4435-8939-E72C51A17B47}">
      <dgm:prSet/>
      <dgm:spPr/>
      <dgm:t>
        <a:bodyPr/>
        <a:lstStyle/>
        <a:p>
          <a:endParaRPr lang="en-US"/>
        </a:p>
      </dgm:t>
    </dgm:pt>
    <dgm:pt modelId="{1D72B2E1-7A1B-4A5C-B61D-AF8D42CE0702}">
      <dgm:prSet phldrT="[Text]" custT="1"/>
      <dgm:spPr/>
      <dgm:t>
        <a:bodyPr/>
        <a:lstStyle/>
        <a:p>
          <a:r>
            <a:rPr lang="bg-BG" sz="11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Защита срещу повторно използване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43EEF-706E-4FC7-B217-DBC9AA2B9390}" type="parTrans" cxnId="{9E3B09FE-FA47-4FA2-B2D2-74A56B9604E0}">
      <dgm:prSet/>
      <dgm:spPr/>
      <dgm:t>
        <a:bodyPr/>
        <a:lstStyle/>
        <a:p>
          <a:endParaRPr lang="en-US"/>
        </a:p>
      </dgm:t>
    </dgm:pt>
    <dgm:pt modelId="{B5DB10E3-DC77-4F9E-AC9B-25D9199720F2}" type="sibTrans" cxnId="{9E3B09FE-FA47-4FA2-B2D2-74A56B9604E0}">
      <dgm:prSet/>
      <dgm:spPr/>
      <dgm:t>
        <a:bodyPr/>
        <a:lstStyle/>
        <a:p>
          <a:endParaRPr lang="en-US"/>
        </a:p>
      </dgm:t>
    </dgm:pt>
    <dgm:pt modelId="{FA3F4066-15F9-4F6C-9779-E90DF796C944}">
      <dgm:prSet phldrT="[Text]" custT="1"/>
      <dgm:spPr/>
      <dgm:t>
        <a:bodyPr/>
        <a:lstStyle/>
        <a:p>
          <a:r>
            <a:rPr lang="en-US" sz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OpenCV</a:t>
          </a:r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проверка на</a:t>
          </a:r>
          <a:r>
            <a: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QR </a:t>
          </a:r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код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F412E7-AE3D-458B-9247-62944DD5CC00}" type="parTrans" cxnId="{8FFE1D21-B0FE-4E1B-8F20-B5179373BD13}">
      <dgm:prSet/>
      <dgm:spPr/>
      <dgm:t>
        <a:bodyPr/>
        <a:lstStyle/>
        <a:p>
          <a:endParaRPr lang="en-US"/>
        </a:p>
      </dgm:t>
    </dgm:pt>
    <dgm:pt modelId="{DCD9FE80-A01F-4577-86D0-CD68EF6EF46B}" type="sibTrans" cxnId="{8FFE1D21-B0FE-4E1B-8F20-B5179373BD13}">
      <dgm:prSet/>
      <dgm:spPr/>
      <dgm:t>
        <a:bodyPr/>
        <a:lstStyle/>
        <a:p>
          <a:endParaRPr lang="en-US"/>
        </a:p>
      </dgm:t>
    </dgm:pt>
    <dgm:pt modelId="{16E5719D-5D8F-4704-8E21-62A44ADBBF8C}">
      <dgm:prSet custT="1"/>
      <dgm:spPr/>
      <dgm:t>
        <a:bodyPr/>
        <a:lstStyle/>
        <a:p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Обработка на грешки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8C381D-F75D-4C50-B289-727991AB658B}" type="parTrans" cxnId="{4CE5DED6-4D44-4255-9C9D-606BE5EEE841}">
      <dgm:prSet/>
      <dgm:spPr/>
      <dgm:t>
        <a:bodyPr/>
        <a:lstStyle/>
        <a:p>
          <a:endParaRPr lang="en-US"/>
        </a:p>
      </dgm:t>
    </dgm:pt>
    <dgm:pt modelId="{17D2A4CC-7C76-456C-8056-6F0749700241}" type="sibTrans" cxnId="{4CE5DED6-4D44-4255-9C9D-606BE5EEE841}">
      <dgm:prSet/>
      <dgm:spPr/>
      <dgm:t>
        <a:bodyPr/>
        <a:lstStyle/>
        <a:p>
          <a:endParaRPr lang="en-US"/>
        </a:p>
      </dgm:t>
    </dgm:pt>
    <dgm:pt modelId="{0633DC02-4E3D-4445-8D7A-37AA5E815FDA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Reed-Solomon </a:t>
          </a:r>
          <a:r>
            <a:rPr lang="bg-BG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корекция на грешки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1E0516-BD7C-42FB-9181-10679BD1FC12}" type="parTrans" cxnId="{55644C78-2D90-4E76-8372-B22157DA4855}">
      <dgm:prSet/>
      <dgm:spPr/>
      <dgm:t>
        <a:bodyPr/>
        <a:lstStyle/>
        <a:p>
          <a:endParaRPr lang="en-US"/>
        </a:p>
      </dgm:t>
    </dgm:pt>
    <dgm:pt modelId="{47BE1A68-4D31-4218-B4C9-710716C52730}" type="sibTrans" cxnId="{55644C78-2D90-4E76-8372-B22157DA4855}">
      <dgm:prSet/>
      <dgm:spPr/>
      <dgm:t>
        <a:bodyPr/>
        <a:lstStyle/>
        <a:p>
          <a:endParaRPr lang="en-US"/>
        </a:p>
      </dgm:t>
    </dgm:pt>
    <dgm:pt modelId="{6636E035-B3E3-4664-BF28-4CFF1595A00B}" type="pres">
      <dgm:prSet presAssocID="{EAE84B20-3AC8-42A9-94EB-B9F893C8351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64EEDD-4B60-4B30-9DF0-AD5110A78A6F}" type="pres">
      <dgm:prSet presAssocID="{CD8A3CA9-5CED-4745-BCA3-5A1833F591B2}" presName="centerShape" presStyleLbl="node0" presStyleIdx="0" presStyleCnt="1" custLinFactNeighborX="-179" custLinFactNeighborY="-1048"/>
      <dgm:spPr/>
    </dgm:pt>
    <dgm:pt modelId="{C842AD80-31E6-4C2F-A1BC-DC79527F283F}" type="pres">
      <dgm:prSet presAssocID="{41C454EF-55A2-4338-8CC2-E287D99E400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75AA73-66D2-4FC4-AAD4-24E076160F7E}" type="pres">
      <dgm:prSet presAssocID="{41C454EF-55A2-4338-8CC2-E287D99E4001}" presName="dummy" presStyleCnt="0"/>
      <dgm:spPr/>
    </dgm:pt>
    <dgm:pt modelId="{9D3FB59C-75B5-4B01-B41D-A0F7521C98AF}" type="pres">
      <dgm:prSet presAssocID="{1A2F81F5-FA29-47A8-AAED-C2CA7ACB529F}" presName="sibTrans" presStyleLbl="sibTrans2D1" presStyleIdx="0" presStyleCnt="5"/>
      <dgm:spPr/>
    </dgm:pt>
    <dgm:pt modelId="{0DFD0002-DAF2-4F4B-B7BB-A0EFF40EE5B3}" type="pres">
      <dgm:prSet presAssocID="{16E5719D-5D8F-4704-8E21-62A44ADBBF8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813D25-7A5E-4C90-BF0C-05E140E1335E}" type="pres">
      <dgm:prSet presAssocID="{16E5719D-5D8F-4704-8E21-62A44ADBBF8C}" presName="dummy" presStyleCnt="0"/>
      <dgm:spPr/>
    </dgm:pt>
    <dgm:pt modelId="{94E5EAA6-8B40-4A59-968B-1AB72FFBE2E7}" type="pres">
      <dgm:prSet presAssocID="{17D2A4CC-7C76-456C-8056-6F0749700241}" presName="sibTrans" presStyleLbl="sibTrans2D1" presStyleIdx="1" presStyleCnt="5"/>
      <dgm:spPr/>
    </dgm:pt>
    <dgm:pt modelId="{0E58E545-4E35-4BC6-AD43-F5B0B7A57905}" type="pres">
      <dgm:prSet presAssocID="{1D72B2E1-7A1B-4A5C-B61D-AF8D42CE0702}" presName="node" presStyleLbl="node1" presStyleIdx="2" presStyleCnt="5" custRadScaleRad="99049" custRadScaleInc="31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7E34AB-36AE-4346-9209-7343D4D4511C}" type="pres">
      <dgm:prSet presAssocID="{1D72B2E1-7A1B-4A5C-B61D-AF8D42CE0702}" presName="dummy" presStyleCnt="0"/>
      <dgm:spPr/>
    </dgm:pt>
    <dgm:pt modelId="{37EB6DA0-DAE6-4ECC-AEB7-B1BC74DBD0FA}" type="pres">
      <dgm:prSet presAssocID="{B5DB10E3-DC77-4F9E-AC9B-25D9199720F2}" presName="sibTrans" presStyleLbl="sibTrans2D1" presStyleIdx="2" presStyleCnt="5"/>
      <dgm:spPr/>
    </dgm:pt>
    <dgm:pt modelId="{93CD3BE8-8AFA-4B5F-84A4-7F96869B63BB}" type="pres">
      <dgm:prSet presAssocID="{FA3F4066-15F9-4F6C-9779-E90DF796C94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D62192-C09A-46A2-8B6A-B57A0FE64F8D}" type="pres">
      <dgm:prSet presAssocID="{FA3F4066-15F9-4F6C-9779-E90DF796C944}" presName="dummy" presStyleCnt="0"/>
      <dgm:spPr/>
    </dgm:pt>
    <dgm:pt modelId="{98834107-406C-4EA0-BAA6-58D9FCAA84C7}" type="pres">
      <dgm:prSet presAssocID="{DCD9FE80-A01F-4577-86D0-CD68EF6EF46B}" presName="sibTrans" presStyleLbl="sibTrans2D1" presStyleIdx="3" presStyleCnt="5"/>
      <dgm:spPr/>
    </dgm:pt>
    <dgm:pt modelId="{7715F279-7181-4A77-A3EF-35B9E0D03FD7}" type="pres">
      <dgm:prSet presAssocID="{0633DC02-4E3D-4445-8D7A-37AA5E815FD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10FF47-150C-4DEB-AEAC-A2BC992A60DB}" type="pres">
      <dgm:prSet presAssocID="{0633DC02-4E3D-4445-8D7A-37AA5E815FDA}" presName="dummy" presStyleCnt="0"/>
      <dgm:spPr/>
    </dgm:pt>
    <dgm:pt modelId="{BC224293-7198-4684-ABCD-06CE890D5ABA}" type="pres">
      <dgm:prSet presAssocID="{47BE1A68-4D31-4218-B4C9-710716C52730}" presName="sibTrans" presStyleLbl="sibTrans2D1" presStyleIdx="4" presStyleCnt="5"/>
      <dgm:spPr/>
    </dgm:pt>
  </dgm:ptLst>
  <dgm:cxnLst>
    <dgm:cxn modelId="{A713FB80-19C6-49C1-8DFD-34386ADCAE89}" type="presOf" srcId="{17D2A4CC-7C76-456C-8056-6F0749700241}" destId="{94E5EAA6-8B40-4A59-968B-1AB72FFBE2E7}" srcOrd="0" destOrd="0" presId="urn:microsoft.com/office/officeart/2005/8/layout/radial6"/>
    <dgm:cxn modelId="{E11943CE-1BC8-4052-8910-7A66277ABD60}" type="presOf" srcId="{1A2F81F5-FA29-47A8-AAED-C2CA7ACB529F}" destId="{9D3FB59C-75B5-4B01-B41D-A0F7521C98AF}" srcOrd="0" destOrd="0" presId="urn:microsoft.com/office/officeart/2005/8/layout/radial6"/>
    <dgm:cxn modelId="{A14296A9-0BEB-469A-BB76-CE0B1123AB0B}" type="presOf" srcId="{1D72B2E1-7A1B-4A5C-B61D-AF8D42CE0702}" destId="{0E58E545-4E35-4BC6-AD43-F5B0B7A57905}" srcOrd="0" destOrd="0" presId="urn:microsoft.com/office/officeart/2005/8/layout/radial6"/>
    <dgm:cxn modelId="{650A6E5F-D533-4F86-9782-7792D005EB44}" type="presOf" srcId="{0633DC02-4E3D-4445-8D7A-37AA5E815FDA}" destId="{7715F279-7181-4A77-A3EF-35B9E0D03FD7}" srcOrd="0" destOrd="0" presId="urn:microsoft.com/office/officeart/2005/8/layout/radial6"/>
    <dgm:cxn modelId="{8FFE1D21-B0FE-4E1B-8F20-B5179373BD13}" srcId="{CD8A3CA9-5CED-4745-BCA3-5A1833F591B2}" destId="{FA3F4066-15F9-4F6C-9779-E90DF796C944}" srcOrd="3" destOrd="0" parTransId="{08F412E7-AE3D-458B-9247-62944DD5CC00}" sibTransId="{DCD9FE80-A01F-4577-86D0-CD68EF6EF46B}"/>
    <dgm:cxn modelId="{9E3B09FE-FA47-4FA2-B2D2-74A56B9604E0}" srcId="{CD8A3CA9-5CED-4745-BCA3-5A1833F591B2}" destId="{1D72B2E1-7A1B-4A5C-B61D-AF8D42CE0702}" srcOrd="2" destOrd="0" parTransId="{FC043EEF-706E-4FC7-B217-DBC9AA2B9390}" sibTransId="{B5DB10E3-DC77-4F9E-AC9B-25D9199720F2}"/>
    <dgm:cxn modelId="{1413FF3C-FC95-4037-B250-1737438E0126}" type="presOf" srcId="{EAE84B20-3AC8-42A9-94EB-B9F893C83514}" destId="{6636E035-B3E3-4664-BF28-4CFF1595A00B}" srcOrd="0" destOrd="0" presId="urn:microsoft.com/office/officeart/2005/8/layout/radial6"/>
    <dgm:cxn modelId="{D686A297-5082-449A-93B5-9051F609A67F}" type="presOf" srcId="{CD8A3CA9-5CED-4745-BCA3-5A1833F591B2}" destId="{2564EEDD-4B60-4B30-9DF0-AD5110A78A6F}" srcOrd="0" destOrd="0" presId="urn:microsoft.com/office/officeart/2005/8/layout/radial6"/>
    <dgm:cxn modelId="{CD8E9138-82E5-467E-A51D-2DBEAC9BC347}" type="presOf" srcId="{DCD9FE80-A01F-4577-86D0-CD68EF6EF46B}" destId="{98834107-406C-4EA0-BAA6-58D9FCAA84C7}" srcOrd="0" destOrd="0" presId="urn:microsoft.com/office/officeart/2005/8/layout/radial6"/>
    <dgm:cxn modelId="{12D644E1-5503-4435-8939-E72C51A17B47}" srcId="{CD8A3CA9-5CED-4745-BCA3-5A1833F591B2}" destId="{41C454EF-55A2-4338-8CC2-E287D99E4001}" srcOrd="0" destOrd="0" parTransId="{F5CCBDC0-0696-4383-B8D0-15718AB2EBCA}" sibTransId="{1A2F81F5-FA29-47A8-AAED-C2CA7ACB529F}"/>
    <dgm:cxn modelId="{663DCBEC-A005-4D17-939A-2C5A1F50DA06}" type="presOf" srcId="{47BE1A68-4D31-4218-B4C9-710716C52730}" destId="{BC224293-7198-4684-ABCD-06CE890D5ABA}" srcOrd="0" destOrd="0" presId="urn:microsoft.com/office/officeart/2005/8/layout/radial6"/>
    <dgm:cxn modelId="{55644C78-2D90-4E76-8372-B22157DA4855}" srcId="{CD8A3CA9-5CED-4745-BCA3-5A1833F591B2}" destId="{0633DC02-4E3D-4445-8D7A-37AA5E815FDA}" srcOrd="4" destOrd="0" parTransId="{1E1E0516-BD7C-42FB-9181-10679BD1FC12}" sibTransId="{47BE1A68-4D31-4218-B4C9-710716C52730}"/>
    <dgm:cxn modelId="{4CE5DED6-4D44-4255-9C9D-606BE5EEE841}" srcId="{CD8A3CA9-5CED-4745-BCA3-5A1833F591B2}" destId="{16E5719D-5D8F-4704-8E21-62A44ADBBF8C}" srcOrd="1" destOrd="0" parTransId="{D48C381D-F75D-4C50-B289-727991AB658B}" sibTransId="{17D2A4CC-7C76-456C-8056-6F0749700241}"/>
    <dgm:cxn modelId="{CBD9DA6D-B88F-4DD7-A8E3-B10A9BE1F771}" type="presOf" srcId="{41C454EF-55A2-4338-8CC2-E287D99E4001}" destId="{C842AD80-31E6-4C2F-A1BC-DC79527F283F}" srcOrd="0" destOrd="0" presId="urn:microsoft.com/office/officeart/2005/8/layout/radial6"/>
    <dgm:cxn modelId="{B382D452-63A2-49F1-ADC9-1B9752677825}" type="presOf" srcId="{FA3F4066-15F9-4F6C-9779-E90DF796C944}" destId="{93CD3BE8-8AFA-4B5F-84A4-7F96869B63BB}" srcOrd="0" destOrd="0" presId="urn:microsoft.com/office/officeart/2005/8/layout/radial6"/>
    <dgm:cxn modelId="{44D69517-BBA3-4676-9FE5-474DAEC503B7}" type="presOf" srcId="{16E5719D-5D8F-4704-8E21-62A44ADBBF8C}" destId="{0DFD0002-DAF2-4F4B-B7BB-A0EFF40EE5B3}" srcOrd="0" destOrd="0" presId="urn:microsoft.com/office/officeart/2005/8/layout/radial6"/>
    <dgm:cxn modelId="{633DCBB3-7996-4F82-9877-FE4B2485A198}" type="presOf" srcId="{B5DB10E3-DC77-4F9E-AC9B-25D9199720F2}" destId="{37EB6DA0-DAE6-4ECC-AEB7-B1BC74DBD0FA}" srcOrd="0" destOrd="0" presId="urn:microsoft.com/office/officeart/2005/8/layout/radial6"/>
    <dgm:cxn modelId="{E356C566-6086-4365-96AA-FFBCE1E4E6D2}" srcId="{EAE84B20-3AC8-42A9-94EB-B9F893C83514}" destId="{CD8A3CA9-5CED-4745-BCA3-5A1833F591B2}" srcOrd="0" destOrd="0" parTransId="{D02F4B22-99D7-4A2F-BAD4-996709F96C0E}" sibTransId="{D3695FF2-663C-46B4-B698-8C528D9F980B}"/>
    <dgm:cxn modelId="{B0B9CD44-8F27-4174-ADCC-BA5BCDC1EA9F}" type="presParOf" srcId="{6636E035-B3E3-4664-BF28-4CFF1595A00B}" destId="{2564EEDD-4B60-4B30-9DF0-AD5110A78A6F}" srcOrd="0" destOrd="0" presId="urn:microsoft.com/office/officeart/2005/8/layout/radial6"/>
    <dgm:cxn modelId="{4E248711-9898-41B4-AA19-8F992F778DD9}" type="presParOf" srcId="{6636E035-B3E3-4664-BF28-4CFF1595A00B}" destId="{C842AD80-31E6-4C2F-A1BC-DC79527F283F}" srcOrd="1" destOrd="0" presId="urn:microsoft.com/office/officeart/2005/8/layout/radial6"/>
    <dgm:cxn modelId="{D67FA1B6-B027-4B7D-9780-2BC7F543C0E1}" type="presParOf" srcId="{6636E035-B3E3-4664-BF28-4CFF1595A00B}" destId="{E275AA73-66D2-4FC4-AAD4-24E076160F7E}" srcOrd="2" destOrd="0" presId="urn:microsoft.com/office/officeart/2005/8/layout/radial6"/>
    <dgm:cxn modelId="{9822F2CE-3ECD-423B-92B5-C53A1D792B25}" type="presParOf" srcId="{6636E035-B3E3-4664-BF28-4CFF1595A00B}" destId="{9D3FB59C-75B5-4B01-B41D-A0F7521C98AF}" srcOrd="3" destOrd="0" presId="urn:microsoft.com/office/officeart/2005/8/layout/radial6"/>
    <dgm:cxn modelId="{855192C9-A242-4A67-843C-B63E34338545}" type="presParOf" srcId="{6636E035-B3E3-4664-BF28-4CFF1595A00B}" destId="{0DFD0002-DAF2-4F4B-B7BB-A0EFF40EE5B3}" srcOrd="4" destOrd="0" presId="urn:microsoft.com/office/officeart/2005/8/layout/radial6"/>
    <dgm:cxn modelId="{13F72EC7-FE8C-43B2-9F5D-E3BA44512452}" type="presParOf" srcId="{6636E035-B3E3-4664-BF28-4CFF1595A00B}" destId="{26813D25-7A5E-4C90-BF0C-05E140E1335E}" srcOrd="5" destOrd="0" presId="urn:microsoft.com/office/officeart/2005/8/layout/radial6"/>
    <dgm:cxn modelId="{1B6782C6-5476-4C54-9718-2CD8F3C87D11}" type="presParOf" srcId="{6636E035-B3E3-4664-BF28-4CFF1595A00B}" destId="{94E5EAA6-8B40-4A59-968B-1AB72FFBE2E7}" srcOrd="6" destOrd="0" presId="urn:microsoft.com/office/officeart/2005/8/layout/radial6"/>
    <dgm:cxn modelId="{D7386720-AD7A-4926-8A95-F8908202CF8D}" type="presParOf" srcId="{6636E035-B3E3-4664-BF28-4CFF1595A00B}" destId="{0E58E545-4E35-4BC6-AD43-F5B0B7A57905}" srcOrd="7" destOrd="0" presId="urn:microsoft.com/office/officeart/2005/8/layout/radial6"/>
    <dgm:cxn modelId="{DB8DBDF3-0583-4556-B505-9ED0D52CA371}" type="presParOf" srcId="{6636E035-B3E3-4664-BF28-4CFF1595A00B}" destId="{5C7E34AB-36AE-4346-9209-7343D4D4511C}" srcOrd="8" destOrd="0" presId="urn:microsoft.com/office/officeart/2005/8/layout/radial6"/>
    <dgm:cxn modelId="{60899CBA-3073-4EA4-ADBF-2159BF245027}" type="presParOf" srcId="{6636E035-B3E3-4664-BF28-4CFF1595A00B}" destId="{37EB6DA0-DAE6-4ECC-AEB7-B1BC74DBD0FA}" srcOrd="9" destOrd="0" presId="urn:microsoft.com/office/officeart/2005/8/layout/radial6"/>
    <dgm:cxn modelId="{9F9EAD8F-426F-40F7-B19A-72F04AF15FB0}" type="presParOf" srcId="{6636E035-B3E3-4664-BF28-4CFF1595A00B}" destId="{93CD3BE8-8AFA-4B5F-84A4-7F96869B63BB}" srcOrd="10" destOrd="0" presId="urn:microsoft.com/office/officeart/2005/8/layout/radial6"/>
    <dgm:cxn modelId="{43610A41-B1A9-4DE9-97D6-9AEA6F149C36}" type="presParOf" srcId="{6636E035-B3E3-4664-BF28-4CFF1595A00B}" destId="{7BD62192-C09A-46A2-8B6A-B57A0FE64F8D}" srcOrd="11" destOrd="0" presId="urn:microsoft.com/office/officeart/2005/8/layout/radial6"/>
    <dgm:cxn modelId="{735B2AD2-9097-465A-8D2B-428F27537E9E}" type="presParOf" srcId="{6636E035-B3E3-4664-BF28-4CFF1595A00B}" destId="{98834107-406C-4EA0-BAA6-58D9FCAA84C7}" srcOrd="12" destOrd="0" presId="urn:microsoft.com/office/officeart/2005/8/layout/radial6"/>
    <dgm:cxn modelId="{A8BAC511-FAC5-420A-A6A4-F73CA967BE7E}" type="presParOf" srcId="{6636E035-B3E3-4664-BF28-4CFF1595A00B}" destId="{7715F279-7181-4A77-A3EF-35B9E0D03FD7}" srcOrd="13" destOrd="0" presId="urn:microsoft.com/office/officeart/2005/8/layout/radial6"/>
    <dgm:cxn modelId="{36E80A45-8C44-4D0C-9CEF-A2A888DFF11E}" type="presParOf" srcId="{6636E035-B3E3-4664-BF28-4CFF1595A00B}" destId="{2A10FF47-150C-4DEB-AEAC-A2BC992A60DB}" srcOrd="14" destOrd="0" presId="urn:microsoft.com/office/officeart/2005/8/layout/radial6"/>
    <dgm:cxn modelId="{2E209605-A59D-442F-B6EF-2C52696F1D43}" type="presParOf" srcId="{6636E035-B3E3-4664-BF28-4CFF1595A00B}" destId="{BC224293-7198-4684-ABCD-06CE890D5ABA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24293-7198-4684-ABCD-06CE890D5ABA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34107-406C-4EA0-BAA6-58D9FCAA84C7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B6DA0-DAE6-4ECC-AEB7-B1BC74DBD0FA}">
      <dsp:nvSpPr>
        <dsp:cNvPr id="0" name=""/>
        <dsp:cNvSpPr/>
      </dsp:nvSpPr>
      <dsp:spPr>
        <a:xfrm>
          <a:off x="1361581" y="491643"/>
          <a:ext cx="3346149" cy="3346149"/>
        </a:xfrm>
        <a:prstGeom prst="blockArc">
          <a:avLst>
            <a:gd name="adj1" fmla="val 3274594"/>
            <a:gd name="adj2" fmla="val 7525432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5EAA6-8B40-4A59-968B-1AB72FFBE2E7}">
      <dsp:nvSpPr>
        <dsp:cNvPr id="0" name=""/>
        <dsp:cNvSpPr/>
      </dsp:nvSpPr>
      <dsp:spPr>
        <a:xfrm>
          <a:off x="1369968" y="485717"/>
          <a:ext cx="3346149" cy="3346149"/>
        </a:xfrm>
        <a:prstGeom prst="blockArc">
          <a:avLst>
            <a:gd name="adj1" fmla="val 20554267"/>
            <a:gd name="adj2" fmla="val 3296195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FB59C-75B5-4B01-B41D-A0F7521C98AF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4EEDD-4B60-4B30-9DF0-AD5110A78A6F}">
      <dsp:nvSpPr>
        <dsp:cNvPr id="0" name=""/>
        <dsp:cNvSpPr/>
      </dsp:nvSpPr>
      <dsp:spPr>
        <a:xfrm>
          <a:off x="2272707" y="1370614"/>
          <a:ext cx="1538882" cy="15388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6500" kern="1200" dirty="0" smtClean="0"/>
            <a:t> </a:t>
          </a:r>
          <a:endParaRPr lang="en-US" sz="6500" kern="1200" dirty="0"/>
        </a:p>
      </dsp:txBody>
      <dsp:txXfrm>
        <a:off x="2498071" y="1595978"/>
        <a:ext cx="1088154" cy="1088154"/>
      </dsp:txXfrm>
    </dsp:sp>
    <dsp:sp modelId="{C842AD80-31E6-4C2F-A1BC-DC79527F283F}">
      <dsp:nvSpPr>
        <dsp:cNvPr id="0" name=""/>
        <dsp:cNvSpPr/>
      </dsp:nvSpPr>
      <dsp:spPr>
        <a:xfrm>
          <a:off x="2509391" y="140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9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Сървърна валидацизация  </a:t>
          </a:r>
          <a:endParaRPr lang="en-US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67146" y="159161"/>
        <a:ext cx="761707" cy="761707"/>
      </dsp:txXfrm>
    </dsp:sp>
    <dsp:sp modelId="{0DFD0002-DAF2-4F4B-B7BB-A0EFF40EE5B3}">
      <dsp:nvSpPr>
        <dsp:cNvPr id="0" name=""/>
        <dsp:cNvSpPr/>
      </dsp:nvSpPr>
      <dsp:spPr>
        <a:xfrm>
          <a:off x="4063697" y="113067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Обработка на грешки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1452" y="1288431"/>
        <a:ext cx="761707" cy="761707"/>
      </dsp:txXfrm>
    </dsp:sp>
    <dsp:sp modelId="{0E58E545-4E35-4BC6-AD43-F5B0B7A57905}">
      <dsp:nvSpPr>
        <dsp:cNvPr id="0" name=""/>
        <dsp:cNvSpPr/>
      </dsp:nvSpPr>
      <dsp:spPr>
        <a:xfrm>
          <a:off x="3443308" y="2957880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Защита срещу повторно използване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01063" y="3115635"/>
        <a:ext cx="761707" cy="761707"/>
      </dsp:txXfrm>
    </dsp:sp>
    <dsp:sp modelId="{93CD3BE8-8AFA-4B5F-84A4-7F96869B63BB}">
      <dsp:nvSpPr>
        <dsp:cNvPr id="0" name=""/>
        <dsp:cNvSpPr/>
      </dsp:nvSpPr>
      <dsp:spPr>
        <a:xfrm>
          <a:off x="1548776" y="2957873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OpenCV</a:t>
          </a: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проверка на</a:t>
          </a: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QR </a:t>
          </a: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код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06531" y="3115628"/>
        <a:ext cx="761707" cy="761707"/>
      </dsp:txXfrm>
    </dsp:sp>
    <dsp:sp modelId="{7715F279-7181-4A77-A3EF-35B9E0D03FD7}">
      <dsp:nvSpPr>
        <dsp:cNvPr id="0" name=""/>
        <dsp:cNvSpPr/>
      </dsp:nvSpPr>
      <dsp:spPr>
        <a:xfrm>
          <a:off x="955084" y="113067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Reed-Solomon </a:t>
          </a:r>
          <a:r>
            <a:rPr lang="bg-BG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корекция на грешки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2839" y="1288431"/>
        <a:ext cx="761707" cy="761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5DC9A-8233-4961-B242-984AF93CEA29}" type="datetimeFigureOut">
              <a:rPr lang="bg-BG" smtClean="0"/>
              <a:t>8.5.2026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A3DE7-7C30-4275-9282-C670D75F6D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859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1.Проектът създава уеб приложение за генериране и четене на QR кодове, което улеснява управлението на билети и инвентаризация чрез автоматична идентификация.</a:t>
            </a:r>
          </a:p>
          <a:p>
            <a:r>
              <a:rPr lang="ru-RU" dirty="0" smtClean="0"/>
              <a:t>2.Включва модули за създаване и разчитане на QR кодове, базирани на съвременни технологии като Django, OpenCV и други, осигуряващи цялостна функционалност.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9812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е създаване на работещо приложение с два модула: генериране на QR код от текст/URL и разчитане на QR код от качено изображение с последваща проверка в база данни.</a:t>
            </a:r>
            <a:endParaRPr lang="en-US" dirty="0" smtClean="0"/>
          </a:p>
          <a:p>
            <a:r>
              <a:rPr lang="ru-RU" dirty="0" smtClean="0"/>
              <a:t> Задачите включват анализ на стандарта, избор на технологии, проектиране на архитектура и реализация на бизнес логика.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14101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QR кодовете са двумерни матрични кодове, дефинирани от стандарт ISO/IEC 18004. Те поддържат различни режими на кодиране и нива на корекция на грешки (Reed–Solomon), което позволява възстановяване на информацията дори при частично увреждане.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442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Приложението е реализирано по клиент–сървърен модел с използване на Django.</a:t>
            </a:r>
            <a:endParaRPr lang="en-US" dirty="0" smtClean="0"/>
          </a:p>
          <a:p>
            <a:r>
              <a:rPr lang="ru-RU" dirty="0" smtClean="0"/>
              <a:t>Архитектурата включва потребителски интерфейс, сървърна логика, модул за генериране и модул за декодиране, свързани с база данни.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67190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Основни технологии: </a:t>
            </a:r>
            <a:r>
              <a:rPr lang="en-US" dirty="0" smtClean="0"/>
              <a:t>Python </a:t>
            </a:r>
            <a:r>
              <a:rPr lang="bg-BG" dirty="0" smtClean="0"/>
              <a:t>и </a:t>
            </a:r>
            <a:r>
              <a:rPr lang="en-US" dirty="0" smtClean="0"/>
              <a:t>Django (</a:t>
            </a:r>
            <a:r>
              <a:rPr lang="bg-BG" dirty="0" smtClean="0"/>
              <a:t>уеб рамка), </a:t>
            </a:r>
            <a:r>
              <a:rPr lang="en-US" dirty="0" err="1" smtClean="0"/>
              <a:t>qrcode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dirty="0" smtClean="0"/>
              <a:t>Pillow (</a:t>
            </a:r>
            <a:r>
              <a:rPr lang="bg-BG" dirty="0" smtClean="0"/>
              <a:t>генериране на </a:t>
            </a:r>
            <a:r>
              <a:rPr lang="en-US" dirty="0" smtClean="0"/>
              <a:t>QR </a:t>
            </a:r>
            <a:r>
              <a:rPr lang="bg-BG" dirty="0" smtClean="0"/>
              <a:t>изображения), </a:t>
            </a:r>
            <a:r>
              <a:rPr lang="en-US" dirty="0" err="1" smtClean="0"/>
              <a:t>OpenCV</a:t>
            </a:r>
            <a:r>
              <a:rPr lang="en-US" dirty="0" smtClean="0"/>
              <a:t> (</a:t>
            </a:r>
            <a:r>
              <a:rPr lang="bg-BG" dirty="0" smtClean="0"/>
              <a:t>декодиране на </a:t>
            </a:r>
            <a:r>
              <a:rPr lang="en-US" dirty="0" smtClean="0"/>
              <a:t>QR </a:t>
            </a:r>
            <a:r>
              <a:rPr lang="bg-BG" dirty="0" smtClean="0"/>
              <a:t>кодове), </a:t>
            </a:r>
            <a:r>
              <a:rPr lang="en-US" dirty="0" smtClean="0"/>
              <a:t>SQLite </a:t>
            </a:r>
            <a:r>
              <a:rPr lang="bg-BG" dirty="0" smtClean="0"/>
              <a:t>база данни и </a:t>
            </a:r>
            <a:r>
              <a:rPr lang="en-US" dirty="0" smtClean="0"/>
              <a:t>Bootstrap </a:t>
            </a:r>
            <a:r>
              <a:rPr lang="bg-BG" dirty="0" smtClean="0"/>
              <a:t>за интерфейс. </a:t>
            </a:r>
            <a:endParaRPr lang="en-US" dirty="0" smtClean="0"/>
          </a:p>
          <a:p>
            <a:r>
              <a:rPr lang="bg-BG" dirty="0" smtClean="0"/>
              <a:t>Изборът осигурява стабилност, сигурност и възможност за разширяване.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16994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Потребителят въвежда текст или URL, системата валидира входните данни и генерира QR код с подходящо ниво на корекция на грешки. </a:t>
            </a:r>
            <a:endParaRPr lang="en-US" dirty="0" smtClean="0"/>
          </a:p>
          <a:p>
            <a:r>
              <a:rPr lang="ru-RU" dirty="0" smtClean="0"/>
              <a:t>Кодът се визуализира и може да бъде изтеглен като изображение.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4072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Потребителят качва изображение с QR код. Системата използва OpenCV за автоматично разпознаване и декодиране. </a:t>
            </a:r>
            <a:endParaRPr lang="en-US" dirty="0" smtClean="0"/>
          </a:p>
          <a:p>
            <a:r>
              <a:rPr lang="ru-RU" dirty="0" smtClean="0"/>
              <a:t>Полученият идентификатор се проверява в базата данни и се извършва действие (напр. маркиране на билет като използван).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63314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Създадени са модели Ticket и ScanLog за съхранение на билети и история на сканиранията. </a:t>
            </a:r>
            <a:endParaRPr lang="en-US" dirty="0" smtClean="0"/>
          </a:p>
          <a:p>
            <a:r>
              <a:rPr lang="ru-RU" dirty="0" smtClean="0"/>
              <a:t>При валиден код системата регистрира дата и час на използване, а при невалиден или вече използван код извежда съобщение.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1368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използва сървърна валидация, защита срещу често срещани уеб атаки и минимализация на данните в QR кода (само идентификатор). </a:t>
            </a:r>
            <a:endParaRPr lang="en-US" dirty="0" smtClean="0"/>
          </a:p>
          <a:p>
            <a:r>
              <a:rPr lang="ru-RU" dirty="0" smtClean="0"/>
              <a:t>Обработват се грешки като липсващ QR код, нечетимо изображение или несъществуващ запис в базата данни.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0053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Разработено е напълно функциониращо уеб приложение, което може да се демонстрира локално. </a:t>
            </a:r>
            <a:endParaRPr lang="en-US" dirty="0" smtClean="0"/>
          </a:p>
          <a:p>
            <a:r>
              <a:rPr lang="ru-RU" dirty="0" smtClean="0"/>
              <a:t>Възможни разширения включват REST API, мобилна версия, поддръжка на други кодове и интеграция с външни системи.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759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6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841680"/>
            <a:ext cx="6778800" cy="249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3;p14"/>
          <p:cNvPicPr/>
          <p:nvPr/>
        </p:nvPicPr>
        <p:blipFill>
          <a:blip r:embed="rId2">
            <a:alphaModFix amt="6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1095480"/>
            <a:ext cx="7916040" cy="64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28600" y="1775520"/>
            <a:ext cx="6131520" cy="184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7;p15"/>
          <p:cNvPicPr/>
          <p:nvPr/>
        </p:nvPicPr>
        <p:blipFill>
          <a:blip r:embed="rId2">
            <a:alphaModFix amt="6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155520"/>
            <a:ext cx="466848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28600" y="1540800"/>
            <a:ext cx="4668480" cy="189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87120" y="1540800"/>
            <a:ext cx="3427920" cy="337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31;p22"/>
          <p:cNvPicPr/>
          <p:nvPr/>
        </p:nvPicPr>
        <p:blipFill>
          <a:blip r:embed="rId2">
            <a:alphaModFix amt="6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680040"/>
            <a:ext cx="444780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Google Shape;134;p22"/>
          <p:cNvSpPr/>
          <p:nvPr/>
        </p:nvSpPr>
        <p:spPr>
          <a:xfrm>
            <a:off x="228600" y="3039840"/>
            <a:ext cx="399348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8;p4"/>
          <p:cNvPicPr/>
          <p:nvPr/>
        </p:nvPicPr>
        <p:blipFill>
          <a:blip r:embed="rId2">
            <a:alphaModFix amt="6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1555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28600" y="1017000"/>
            <a:ext cx="7703640" cy="36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5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1611" y="360420"/>
            <a:ext cx="6367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професия код 481030 „Приложен програмист”</a:t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специалност код 4810301 „Приложно програмиране”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6" y="423353"/>
            <a:ext cx="1511939" cy="1414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1752" y="2569664"/>
            <a:ext cx="580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Генератор и четец на QR кодове / Баркодове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6198" y="3831135"/>
            <a:ext cx="389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Дипломант: Таня Пишарова</a:t>
            </a:r>
          </a:p>
        </p:txBody>
      </p:sp>
    </p:spTree>
    <p:extLst>
      <p:ext uri="{BB962C8B-B14F-4D97-AF65-F5344CB8AC3E}">
        <p14:creationId xmlns:p14="http://schemas.microsoft.com/office/powerpoint/2010/main" val="3991983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4801325" y="2202569"/>
            <a:ext cx="4275930" cy="1582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bg-BG" sz="4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и актуалност</a:t>
            </a:r>
            <a:endParaRPr lang="en-US" sz="40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69f1b4d839b0a" descr="image69f1b4d839b10"/>
          <p:cNvPicPr/>
          <p:nvPr/>
        </p:nvPicPr>
        <p:blipFill>
          <a:blip r:embed="rId3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1;p33"/>
          <p:cNvPicPr/>
          <p:nvPr/>
        </p:nvPicPr>
        <p:blipFill>
          <a:blip r:embed="rId3"/>
          <a:stretch/>
        </p:blipFill>
        <p:spPr>
          <a:xfrm>
            <a:off x="4895640" y="0"/>
            <a:ext cx="4248360" cy="5143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8600" y="2228035"/>
            <a:ext cx="4667040" cy="9089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</a:t>
            </a:r>
            <a:r>
              <a:rPr lang="en-US" sz="32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fr-FR" sz="18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2" name="image69f1b4d84a152" descr="image69f1b4d84a158"/>
          <p:cNvPicPr/>
          <p:nvPr/>
        </p:nvPicPr>
        <p:blipFill>
          <a:blip r:embed="rId3"/>
          <a:stretch/>
        </p:blipFill>
        <p:spPr>
          <a:xfrm>
            <a:off x="4571641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2202328"/>
            <a:ext cx="44385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Теоретични основи на QR кодовете</a:t>
            </a:r>
            <a:endParaRPr lang="bg-BG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5" name="image69f1b4d855acd" descr="image69f1b4d855ad1"/>
          <p:cNvPicPr/>
          <p:nvPr/>
        </p:nvPicPr>
        <p:blipFill>
          <a:blip r:embed="rId3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2143080"/>
            <a:ext cx="4567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8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на системата</a:t>
            </a:r>
            <a:endParaRPr lang="bg-BG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35391" y="167732"/>
            <a:ext cx="791496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Използвани</a:t>
            </a:r>
            <a:r>
              <a:rPr lang="en-US" sz="4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lang="bg-BG" b="1" dirty="0"/>
              <a:t/>
            </a:r>
            <a:br>
              <a:rPr lang="bg-BG" b="1" dirty="0"/>
            </a:b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658" y1="26577" x2="35360" y2="13288"/>
                        <a14:foregroundMark x1="42117" y1="61261" x2="52928" y2="601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55" y="1284415"/>
            <a:ext cx="1847850" cy="18478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3778" y1="41778" x2="33778" y2="35556"/>
                        <a14:foregroundMark x1="46667" y1="39111" x2="80000" y2="37778"/>
                        <a14:foregroundMark x1="17778" y1="61333" x2="84000" y2="60000"/>
                        <a14:foregroundMark x1="17778" y1="50222" x2="83111" y2="54222"/>
                        <a14:foregroundMark x1="34222" y1="44444" x2="83556" y2="45333"/>
                        <a14:foregroundMark x1="26667" y1="39111" x2="45333" y2="4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990" y="1136777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306" b="90868" l="10000" r="90000">
                        <a14:foregroundMark x1="31739" y1="43379" x2="19565" y2="51598"/>
                        <a14:foregroundMark x1="40870" y1="28311" x2="41739" y2="7306"/>
                        <a14:foregroundMark x1="56957" y1="48858" x2="63478" y2="64840"/>
                        <a14:foregroundMark x1="65217" y1="66667" x2="80870" y2="58904"/>
                        <a14:foregroundMark x1="25217" y1="78082" x2="26087" y2="83562"/>
                        <a14:foregroundMark x1="30435" y1="83105" x2="31304" y2="90868"/>
                        <a14:foregroundMark x1="46087" y1="84475" x2="43913" y2="81279"/>
                        <a14:foregroundMark x1="50870" y1="82192" x2="51739" y2="87671"/>
                        <a14:foregroundMark x1="63913" y1="78082" x2="61739" y2="84475"/>
                        <a14:foregroundMark x1="73913" y1="79909" x2="77826" y2="88128"/>
                        <a14:foregroundMark x1="80000" y1="54338" x2="75652" y2="438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306" y="1284415"/>
            <a:ext cx="1760275" cy="1676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155" b="90141" l="4789" r="99155">
                        <a14:foregroundMark x1="38028" y1="35211" x2="38028" y2="64789"/>
                        <a14:foregroundMark x1="50704" y1="30282" x2="50986" y2="52113"/>
                        <a14:foregroundMark x1="50986" y1="20423" x2="49577" y2="19014"/>
                        <a14:foregroundMark x1="55775" y1="19718" x2="56056" y2="45070"/>
                        <a14:foregroundMark x1="62817" y1="20423" x2="62817" y2="47183"/>
                        <a14:foregroundMark x1="68169" y1="38732" x2="69859" y2="53521"/>
                        <a14:foregroundMark x1="80563" y1="35211" x2="83380" y2="51408"/>
                        <a14:foregroundMark x1="92958" y1="33803" x2="92113" y2="42254"/>
                        <a14:foregroundMark x1="39718" y1="55634" x2="45634" y2="52817"/>
                        <a14:foregroundMark x1="68732" y1="35211" x2="70986" y2="30986"/>
                        <a14:foregroundMark x1="73521" y1="32394" x2="76620" y2="42254"/>
                        <a14:foregroundMark x1="83662" y1="50000" x2="85352" y2="37324"/>
                        <a14:foregroundMark x1="85352" y1="40845" x2="86761" y2="29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261" y="3279902"/>
            <a:ext cx="3381375" cy="1352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570" y="1136777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476280" y="10251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генериране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QR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кодове</a:t>
            </a:r>
            <a:endParaRPr lang="en-US" sz="36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886"/>
            <a:ext cx="9144000" cy="4490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28833" y="0"/>
            <a:ext cx="791496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 за разчитане и верификация</a:t>
            </a:r>
            <a:endParaRPr lang="fr-FR" sz="36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761"/>
            <a:ext cx="4484071" cy="221967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данни и бизнес логика</a:t>
            </a:r>
            <a:endParaRPr lang="bg-B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07726"/>
            <a:ext cx="9144000" cy="42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73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Сигурност и обработка на грешки</a:t>
            </a:r>
            <a:endParaRPr lang="bg-B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07053592"/>
              </p:ext>
            </p:extLst>
          </p:nvPr>
        </p:nvGraphicFramePr>
        <p:xfrm>
          <a:off x="1397185" y="93354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Protective &lt;strong&gt;Shield&lt;/strong&gt; &lt;strong&gt;Icon&lt;/strong&gt;, &lt;strong&gt;shield&lt;/strong&gt; check mark sign, safety verification ...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-20661" r="3128" b="-18181"/>
          <a:stretch/>
        </p:blipFill>
        <p:spPr>
          <a:xfrm>
            <a:off x="3721215" y="2369431"/>
            <a:ext cx="1447939" cy="13675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327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4571640" y="2193716"/>
            <a:ext cx="482991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image69f1b4d860490" descr="image69f1b4d860493"/>
          <p:cNvPicPr/>
          <p:nvPr/>
        </p:nvPicPr>
        <p:blipFill>
          <a:blip r:embed="rId3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725154" y="2193716"/>
            <a:ext cx="5072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Резултати</a:t>
            </a: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възможности</a:t>
            </a: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</a:t>
            </a:r>
            <a:endParaRPr lang="bg-BG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2" y="1909592"/>
            <a:ext cx="8675120" cy="940399"/>
          </a:xfrm>
        </p:spPr>
        <p:txBody>
          <a:bodyPr/>
          <a:lstStyle/>
          <a:p>
            <a:pPr algn="ctr"/>
            <a:r>
              <a:rPr lang="bg-BG" dirty="0" smtClean="0">
                <a:solidFill>
                  <a:schemeClr val="accent6"/>
                </a:solidFill>
                <a:latin typeface="Century" panose="02040604050505020304" pitchFamily="18" charset="0"/>
              </a:rPr>
              <a:t>Благодаря Ви за вниманието!</a:t>
            </a:r>
            <a:endParaRPr lang="bg-BG" dirty="0">
              <a:solidFill>
                <a:schemeClr val="accent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576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 Abstract by Slidesgo">
  <a:themeElements>
    <a:clrScheme name="Simple Light">
      <a:dk1>
        <a:srgbClr val="191919"/>
      </a:dk1>
      <a:lt1>
        <a:srgbClr val="67D1EF"/>
      </a:lt1>
      <a:dk2>
        <a:srgbClr val="30B7F5"/>
      </a:dk2>
      <a:lt2>
        <a:srgbClr val="2C64E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498</Words>
  <Application>Microsoft Office PowerPoint</Application>
  <PresentationFormat>On-screen Show (16:9)</PresentationFormat>
  <Paragraphs>49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</vt:lpstr>
      <vt:lpstr>OpenSymbol</vt:lpstr>
      <vt:lpstr>Public Sans</vt:lpstr>
      <vt:lpstr>Symbol</vt:lpstr>
      <vt:lpstr>Times New Roman</vt:lpstr>
      <vt:lpstr>Wingdings</vt:lpstr>
      <vt:lpstr>Blue Abstract by Slidesgo</vt:lpstr>
      <vt:lpstr>PowerPoint Presentation</vt:lpstr>
      <vt:lpstr>PowerPoint Presentation</vt:lpstr>
      <vt:lpstr>Цел и основни задачи</vt:lpstr>
      <vt:lpstr>PowerPoint Presentation</vt:lpstr>
      <vt:lpstr>PowerPoint Presentation</vt:lpstr>
      <vt:lpstr>Използвани технологии </vt:lpstr>
      <vt:lpstr>PowerPoint Presentation</vt:lpstr>
      <vt:lpstr>Модул за разчитане и верификация</vt:lpstr>
      <vt:lpstr>База данни и бизнес логика</vt:lpstr>
      <vt:lpstr>Сигурност и обработка на грешки</vt:lpstr>
      <vt:lpstr>PowerPoint Presentation</vt:lpstr>
      <vt:lpstr>Благодаря Ви за вниманието!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modified xsi:type="dcterms:W3CDTF">2026-05-08T09:19:18Z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2026-04-29T07:35:51Z</dcterms:created>
  <dc:creator>Unknown Creator</dc:creator>
  <dc:description/>
  <dc:language>en-US</dc:language>
  <cp:lastModifiedBy>Unknown Creator</cp:lastModifiedBy>
  <dcterms:modified xsi:type="dcterms:W3CDTF">2026-04-29T07:35:51Z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